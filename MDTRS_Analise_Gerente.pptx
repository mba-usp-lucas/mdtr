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Calibri"/>
              </a:rPr>
              <a:t>ALCON | COMMERCIAL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Georgia"/>
              </a:rPr>
              <a:t>Análise MDTR por Gerente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Período: Abr/25 – Mai/26 (Proj)  •  76 setores  •  13.564 PDVs analisados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Performance agregada por gerente  ·  Top setores em alta e ofensores  ·  Maior PDV impactador em cada setor  ·  Visão consolidada de produto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Gerado em 25/05/2026 19:48  •  Fonte: MDTRS_FV_TOTAL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Análise de Produto · Visão Consolidada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YTD 2026 (Jan-Abr) vs Set-Dez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MARCA · APRESENTAÇÃO · YTD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1.359.367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2763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vs Set-Dez 2025: 1.469.885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VARIAÇÃO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-110.518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62763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-7,5%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MARCA EM MAIOR 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SYSTANE HIDRATACAO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62763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8.134 un.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MARCA EM MAIOR QUEDA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LACRIMA PLUS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62763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-47.858 un.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0574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Ranking por MARCA — YTD 2026 (Jan-Abr)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6000"/>
            <a:ext cx="5669280" cy="42062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17920" y="20574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Variação por MARCA — YTD 2026 (Jan-Abr) vs Set-Dez 2025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6692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Análise de Produto · Por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YTD 2026 (Jan-Abr) vs Set-Dez 2025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914400"/>
          <a:ext cx="1143000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1543050"/>
                <a:gridCol w="1543050"/>
                <a:gridCol w="1543050"/>
                <a:gridCol w="154305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APRESENTAÇÃO</a:t>
                      </a:r>
                    </a:p>
                  </a:txBody>
                  <a:tcPr marL="80000" marR="80000" marT="25000" marB="2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Set-Dez 2025</a:t>
                      </a:r>
                    </a:p>
                  </a:txBody>
                  <a:tcPr marL="80000" marR="80000" marT="25000" marB="2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YTD 2026 (Jan-Abr)</a:t>
                      </a:r>
                    </a:p>
                  </a:txBody>
                  <a:tcPr marL="80000" marR="80000" marT="25000" marB="2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80000" marR="80000" marT="25000" marB="2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%</a:t>
                      </a:r>
                    </a:p>
                  </a:txBody>
                  <a:tcPr marL="80000" marR="80000" marT="25000" marB="25000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LACRIMA PLUS GOTAS OFTAL 15.0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328.595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280.737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-47.858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-14,6%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UL SOL OFTAL 10.0 ML X 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260.177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246.101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-14.076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-5,4%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CLARIL SOL OFTAL 15.0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203.221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190.269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-12.952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-6,4%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UL SOL OFTAL 15.0 ML X 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164.565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157.350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-7.215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-4,4%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COMPLETE SOL OFTAL 10.0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140.993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131.218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-9.775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-6,9%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HIDRATACAO SOL OFTAL SC 10.0 ML X 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104.859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112.993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8.134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+7,8%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OPTI FREE PUREMOIS SOL OFTAL 90.0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74.624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68.148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-6.476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-8,7%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OPTI FREE PUREMOIS K 300ML+120M 420.0 ML X 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60.380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55.664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-4.716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-7,8%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TRISORB SOL OFTAL 15.0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40.347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38.366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-1.981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-4,9%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ULTRA SOL OFTAL SC 10.0 ML X 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50.430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37.597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-12.833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-25,4%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OPTI FREE EXPRESS SO 2X355GELC 710.0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18.415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17.357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-1.058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-5,7%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LID WIPES SAC LEN UM X 30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13.894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11.706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-2.188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-15,7%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SYSTANE COMPLETE SOL LU OF SC 10.0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5.429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5.429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OFTANE SOL OFTAL 10.0 ML X 1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3.375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3.367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-8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-0,2%</a:t>
                      </a:r>
                    </a:p>
                  </a:txBody>
                  <a:tcPr marL="80000" marR="80000" marT="18000" marB="18000">
                    <a:solidFill>
                      <a:srgbClr val="F8F8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E2761"/>
                          </a:solidFill>
                          <a:latin typeface="Calibri"/>
                        </a:rPr>
                        <a:t>OFTANE SOL OFTAL 15.0 ML X 1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595959"/>
                          </a:solidFill>
                          <a:latin typeface="Calibri"/>
                        </a:rPr>
                        <a:t>4.470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E2761"/>
                          </a:solidFill>
                          <a:latin typeface="Calibri"/>
                        </a:rPr>
                        <a:t>2.850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-1.620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-36,2%</a:t>
                      </a:r>
                    </a:p>
                  </a:txBody>
                  <a:tcPr marL="80000" marR="80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Anderson Moraes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11 setores  ·  1.775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188.552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44.296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50.770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6.474 un. vs Abr (+14,6%)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-1.440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-11,7%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+14,6%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6.474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Anderson Moraes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Juan Costa dos Santos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6.193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7.124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VENANCIO (0271)  ·  RIO DE JANEIRO/RJ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308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1.896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2.399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503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Caroline Koehler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5.643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6.409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VENANCIO (3882)  ·  RIO DE JANEIRO/RJ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159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1.630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1.868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Elaine Mafra Vianna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3.813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4.555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742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VENANCIO (4854)  ·  NITEROI/RJ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1.276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1.504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228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Mariana Coutinho Pierre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3.792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4.505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713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VENANCIO (0867)  ·  RIO DE JANEIRO/RJ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1.163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1.498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335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Michelle Messias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4.432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5.059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627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PACHECO (3344)  ·  RIO DE JANEIRO/RJ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1.396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1.691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295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Jurandir Junior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2.607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2.881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274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PACHECO (3502)  ·  DUQUE DE CAXIAS/RJ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CLARIL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227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Christiane Dourado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2.765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3.179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(5994)  ·  RIO DE JANEIRO/RJ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ULTRA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131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Palmerindo Xavier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5.535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5.998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464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PACHECO (2710)  ·  VITORIA/ES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PUREMOIS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612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Marco Boas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2.901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3.402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501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(7022)  ·  RIO DE JANEIRO/RJ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772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Leonardo Marinho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3.728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4.233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(1256)  ·  CAMPOS DOS GOYTACAZE/RJ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EXPRESS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Bruna Fernandes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11 setores  ·  2.220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222.652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53.459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56.492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3.033 un. vs Abr (+5,7%)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-1.464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-10,8%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+5,7%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3.033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Bruna Fernandes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Ana Clara Rabello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6.137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6.599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(4864)  ·  SAO JOSE DOS CAMPOS/SP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1.676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1.939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263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Caroline Gimenes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5.713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6.138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425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(3656)  ·  PIRASSUNUNGA/SP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1.330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1.556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226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Natalia Siqueira Sargasso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3.454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3.784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330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CATEDRAL (1112)  ·  BAURU/SP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CLARIL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628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725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Gabriel Rocco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6.003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6.310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(6109)  ·  GUARULHOS/SP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1.301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1.449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Karina Sales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5.097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5.388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(7167)  ·  CAMPINAS/SP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1.059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1.145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Thiago Duarte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5.360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5.450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DROGARIAS MAESTRA (0171)  ·  VINHEDO/SP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1.350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1.236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-114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Jorgiana Scalabrin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3.375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3.509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 10 (0109)  ·  GUARARAPES/SP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968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893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-75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Wilson Jesus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4.183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4.402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219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SAO PAULO (6346)  ·  SOROCABA/SP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1.178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1.157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Nicolly Gomes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5.614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5.857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243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SAO PAULO (1643)  ·  SAO PAULO/SP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1.971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1.817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-154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Anna Parra L Carvalho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4.427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4.687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SAO PAULO (1058)  ·  BARUERI/SP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1.356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1.308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Christiane Bonaparte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10 setores  ·  1.678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185.712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44.586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51.344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6.758 un. vs Abr (+15,2%)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-1.834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-13,9%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+15,2%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6.758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Christiane Bonaparte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Oliana Prado de Sá Menezes de Souza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8.541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9.748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1.207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ULTRA POPULAR (1399)  ·  IMPERATRIZ/MA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3.564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4.102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538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Erico Cordeiro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3.848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4.690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842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(2871)  ·  FORTALEZA/CE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1.592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1.863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271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Nixon Fernandes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4.351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5.123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772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(1735)  ·  NATAL/RN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1.584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1.848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Rogerio Drumond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5.273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6.012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739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(9108)  ·  TERESINA/PI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2.484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2.951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467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Kathia Kramer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3.744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4.460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717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(7083)  ·  CRATO/CE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1.314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1.504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191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Deise Marins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2.691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3.001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(0328)  ·  TIMBAUBA/PE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ULTRA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Elaine Muribeca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2.909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3.245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336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REDEPHARMA (5299)  ·  CARUARU/PE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TRISORB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GISELLE MARIA Paashaus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4.240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4.784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 EXTRAFARMA (8433)  ·  RECIFE/PE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OFTANE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Mirtes Moema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4.961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5.537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576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TRADICAO MEDICAMENTOS (0173)  ·  RECIFE/PE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ULTRA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Maria Carvalho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4.029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4.744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715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(4876)  ·  FORTALEZA/CE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ULTRA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Glauco Vince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10 setores  ·  2.998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209.209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49.067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51.795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2.728 un. vs Abr (+5,6%)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-261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-2,1%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+5,6%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2.728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Glauco Vince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Tiago Pinto Santos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4.645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5.262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617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(9278)  ·  PORTO ALEGRE/RS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1.578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1.804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226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Jowan Fonseca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4.512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4.898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(8115)  ·  PORTO ALEGRE/RS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1.416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1.534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Fernando Souza Pencarinha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4.875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5.225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(1853)  ·  PORTO ALEGRE/RS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COMPLETE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471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587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Viviane Queiroz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3.822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4.160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(1305)  ·  CURITIBA/PR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1.099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1.192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Gustavo Couto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5.165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5.417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252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(6718)  ·  FARROUPILHA/RS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1.503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1.631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Debora Milhorini Pereira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4.634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4.675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ULTRAPOPULAR (0176)  ·  UMUARAMA/PR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PUREMOIS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445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-63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Guilherme Chicarelli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5.226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5.381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SAO JOAO FARMACIAS (7470)  ·  FLORIANOPOLIS/SC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-56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790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688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-103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Michael Fernando Meyer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4.932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5.104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172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 PRECO POPULAR (6413)  ·  FLORIANOPOLIS/SC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2.061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1.906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-155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Andreia Ziebarth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6.783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6.967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 PRECO POPULAR (2065)  ·  CURITIBA/PR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CLARIL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943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872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-71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Adriana Deki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4.472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4.704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232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NISSEI (6406)  ·  CURITIBA/PR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741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666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-74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Humberto Tomazini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12 setores  ·  1.455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145.482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35.219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38.343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3.124 un. vs Abr (+8,9%)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-654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-7,0%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+8,9%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3.124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Humberto Tomazini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Tassia Rotondano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3.429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3.951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522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(7987)  ·  SALVADOR/BA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1.416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1.703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Rafael Souza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2.900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3.344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(7140)  ·  SENHOR DO BONFIM/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1.246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1.402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Marinaldo Sampaio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4.082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4.518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436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(4526)  ·  SALVADOR/BA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1.481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1.690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Ana Veloso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2.778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3.116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338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PACHECO (5418)  ·  BELO HORIZONTE/MG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984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1.086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Carla Pegoraro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3.064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3.366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ARAUJO (0116)  ·  BELO HORIZONTE/MG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564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775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COMPLETE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346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Juarez Microni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3.102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3.133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PACHECO (2838)  ·  BELO HORIZONTE/MG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PUREMOIS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Felipe Villas-Boas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1.411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1.529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ULTRA POPULAR (0128)  ·  CONCEICAO DO COI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598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-54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Marcella Nogueira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3.814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3.956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DROGARIAS LUCENA (0245)  ·  NOVA LIMA/MG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750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697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-53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Leonardo Laranjeira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2.868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3.021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153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 E DRUGSTORE INDIANA (1302)  ·  GOVERNADOR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CLARIL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-81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Ialas Oliveira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1.579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1.740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PACHECO (6322)  ·  JUIZ DE FORA/MG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HIDRATACAO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Leonardo Magalhães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10 setores  ·  1.948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178.672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44.326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48.918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4.592 un. vs Abr (+10,4%)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-672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-5,5%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+10,4%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4.592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Leonardo Magalhães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Carolina Bogaz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5.842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6.666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824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(6008)  ·  BRASILIA/DF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1.888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2.257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370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Renata Martins Marques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3.316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3.923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607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(3473)  ·  GOIANIA/GO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792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1.170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378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Brenda Souza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5.755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6.351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596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 LIDER (0582)  ·  BELEM/PA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COMPLETE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621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825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Thais Melo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4.150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4.713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563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ROSARIO (1304)  ·  BRASILIA/DF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132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1.276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1.548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273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Vanessa Ozeias Rego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4.193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4.731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538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(2156)  ·  BRASILIA/DF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1.383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1.701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318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Marcelo Ferreira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3.903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4.069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LIDER (4306)  ·  ARAGUARI/MG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TRISORB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241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Jaqueline Frazao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3.673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3.896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223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(5243)  ·  RIBEIRAO PRETO/SP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PUREMOIS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279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Aline Magnaboschi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3.995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4.295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(6909)  ·  SAO CARLOS/SP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EXPRESS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Hugo Barbosa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6.215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6.570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355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ROSARIO (7499)  ·  CUIABA/MT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-50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LID WIPES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Alessandro Santos Lançone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3.285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3.703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418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(3561)  ·  BARRETOS/SP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OPTI FREE EXPRESS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Renan Rudge 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12 setores  ·  1.490 PDVs analisados  ·  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EVOLUÇÃO · SEMANAL · UF · BANDEIRA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YTD 2026 (JAN-ABR) — 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Calibri"/>
              </a:rPr>
              <a:t>229.088 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Abr/26: 56.076 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14400"/>
            <a:ext cx="54864" cy="868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MAI-PROJ (MAIO PROJETADO)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Calibri"/>
              </a:rPr>
              <a:t>58.974 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2.898 un. vs Abr (+5,2%)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914400"/>
            <a:ext cx="54864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MAI-S3 VS MAI-S2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62828"/>
                </a:solidFill>
                <a:latin typeface="Calibri"/>
              </a:rPr>
              <a:t>-895 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C62828"/>
                </a:solidFill>
                <a:latin typeface="Calibri"/>
              </a:rPr>
              <a:t>-6,5%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91440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9136" y="914400"/>
            <a:ext cx="54864" cy="868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98755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595959"/>
                </a:solidFill>
                <a:latin typeface="Calibri"/>
              </a:rPr>
              <a:t>Δ MAI-PROJ VS ABR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1207008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+5,2%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490472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95959"/>
                </a:solidFill>
                <a:latin typeface="Calibri"/>
              </a:rPr>
              <a:t>2.898 un.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65960"/>
            <a:ext cx="7315200" cy="2286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63840" y="19659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Semanal — Maio/26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240280"/>
            <a:ext cx="3931920" cy="2011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5760" y="44348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UF (Mai-Proj)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709160"/>
            <a:ext cx="5760720" cy="19202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Calibri"/>
              </a:rPr>
              <a:t>Desempenho por Bandeira (Mai-Proj)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548640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Georgia"/>
              </a:rPr>
              <a:t>Gerente: Renan Rudge 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Top 5 setores · PDV e Marca de maior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82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CADCFC"/>
                </a:solidFill>
                <a:latin typeface="Calibri"/>
              </a:rPr>
              <a:t>TOP SETORES · PDV ·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↑ TOP SETORES em DESTAQUE — Maior alta (Mai-Proj vs Abr)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252728"/>
          <a:ext cx="57607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864108"/>
                <a:gridCol w="864108"/>
                <a:gridCol w="864108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Marcia Almeida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7.137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7.671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534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DROGASIL (3865)  ·  SAO PAULO/SP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COMPLETE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561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688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Rogerio Morgato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8.290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8.814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524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(4803)  ·  SAO PAULO/SP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COMPLETE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611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794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183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Priscila Carvalho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4.100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4.516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416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RAIA (3237)  ·  SAO PAULO/SP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1.043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1.230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187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Aline Tiozzo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4.830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5.183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353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SAO PAULO (6508)  ·  SAO PAULO/SP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COMPLETE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444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558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Thaina Ramos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5.308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5.658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FARMACIAS PAGUE MENOS (0934)  ·  SAO PAULO/SP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SYSTANE UL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1.201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1.283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2E7D32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960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62828"/>
                </a:solidFill>
                <a:latin typeface="Calibri"/>
              </a:rPr>
              <a:t>↓ TOP SETORES OFENSORES — Menor performance (Mai-Proj vs Abr)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252728"/>
          <a:ext cx="54864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822960"/>
                <a:gridCol w="82296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Setor  ·  ↳ PDV  ·  ↳ Marca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Abr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Mai-Proj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unid</a:t>
                      </a:r>
                    </a:p>
                  </a:txBody>
                  <a:tcPr marL="60000" marR="60000" marT="15000" marB="15000"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VACANT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3.503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3.240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C62828"/>
                          </a:solidFill>
                          <a:latin typeface="Calibri"/>
                        </a:rPr>
                        <a:t>-264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SOARES 3 (0375)  ·  SAO PAULO/SP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569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232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-336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1.285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913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-372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Luciana Rocco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3.060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2.984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C62828"/>
                          </a:solidFill>
                          <a:latin typeface="Calibri"/>
                        </a:rPr>
                        <a:t>-76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DROGARIA IGUATEMI (0116)  ·  SAO PAULO/SP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639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560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-79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João Paulo Leonidas Alencar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3.338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3.431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COOP REDE (5803)  ·  RIBEIRAO PIRES/SP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-17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1.115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1.095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-20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Viviane Romano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2.387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2.521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L="60000" marR="60000" marT="12000" marB="12000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FARMACIA EXTRAFARMA (0565)  ·  SAO PAULO/SP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-21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777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758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-19</a:t>
                      </a:r>
                    </a:p>
                  </a:txBody>
                  <a:tcPr marL="60000" marR="60000" marT="6000" marB="6000">
                    <a:solidFill>
                      <a:srgbClr val="F8F8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E2761"/>
                          </a:solidFill>
                          <a:latin typeface="Calibri"/>
                        </a:rPr>
                        <a:t>Ana Paula Direste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i="0">
                          <a:solidFill>
                            <a:srgbClr val="595959"/>
                          </a:solidFill>
                          <a:latin typeface="Calibri"/>
                        </a:rPr>
                        <a:t>4.522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1E2761"/>
                          </a:solidFill>
                          <a:latin typeface="Calibri"/>
                        </a:rPr>
                        <a:t>4.753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>
                          <a:solidFill>
                            <a:srgbClr val="2E7D32"/>
                          </a:solidFill>
                          <a:latin typeface="Calibri"/>
                        </a:rPr>
                        <a:t>231</a:t>
                      </a:r>
                    </a:p>
                  </a:txBody>
                  <a:tcPr marL="60000" marR="60000" marT="12000" marB="12000">
                    <a:solidFill>
                      <a:srgbClr val="F0F2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PDV: DROGA LESTE (2438)  ·  SAO PAULO/SP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-29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   ↳ Produto: LACRIMA PLUS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1.518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 i="1">
                          <a:solidFill>
                            <a:srgbClr val="595959"/>
                          </a:solidFill>
                          <a:latin typeface="Calibri"/>
                        </a:rPr>
                        <a:t>1.474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 i="1">
                          <a:solidFill>
                            <a:srgbClr val="C62828"/>
                          </a:solidFill>
                          <a:latin typeface="Calibri"/>
                        </a:rPr>
                        <a:t>-44</a:t>
                      </a:r>
                    </a:p>
                  </a:txBody>
                  <a:tcPr marL="60000" marR="60000" marT="6000" marB="6000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